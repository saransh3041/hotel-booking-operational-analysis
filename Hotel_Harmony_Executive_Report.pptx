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F3C"/>
                </a:solidFill>
                <a:latin typeface="Arial"/>
              </a:rPr>
              <a:t>Monthly Booking Distribution — Peak Season: April–May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1E4F8C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620</c:v>
                </c:pt>
                <c:pt idx="1">
                  <c:v>680</c:v>
                </c:pt>
                <c:pt idx="2">
                  <c:v>870</c:v>
                </c:pt>
                <c:pt idx="3">
                  <c:v>1150</c:v>
                </c:pt>
                <c:pt idx="4">
                  <c:v>1240</c:v>
                </c:pt>
                <c:pt idx="5">
                  <c:v>1080</c:v>
                </c:pt>
                <c:pt idx="6">
                  <c:v>990</c:v>
                </c:pt>
                <c:pt idx="7">
                  <c:v>950</c:v>
                </c:pt>
                <c:pt idx="8">
                  <c:v>880</c:v>
                </c:pt>
                <c:pt idx="9">
                  <c:v>760</c:v>
                </c:pt>
                <c:pt idx="10">
                  <c:v>620</c:v>
                </c:pt>
                <c:pt idx="11">
                  <c:v>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5-4DC9-A89E-1359718F2D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F3C"/>
                </a:solidFill>
                <a:latin typeface="Arial"/>
              </a:rPr>
              <a:t>Reservation Status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Booking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B9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F1-4C7C-B2BA-BBE2F8B47A12}"/>
              </c:ext>
            </c:extLst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F1-4C7C-B2BA-BBE2F8B47A12}"/>
              </c:ext>
            </c:extLst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2F1-4C7C-B2BA-BBE2F8B47A1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2F1-4C7C-B2BA-BBE2F8B47A1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2F1-4C7C-B2BA-BBE2F8B47A1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2F1-4C7C-B2BA-BBE2F8B47A1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Checked-Out</c:v>
                </c:pt>
                <c:pt idx="1">
                  <c:v>Cancelled</c:v>
                </c:pt>
                <c:pt idx="2">
                  <c:v>No-Show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45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2F1-4C7C-B2BA-BBE2F8B47A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D1F3C"/>
                </a:solidFill>
                <a:latin typeface="Arial"/>
              </a:rPr>
              <a:t>Bookings by Market Segment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Bookings</c:v>
                </c:pt>
              </c:strCache>
            </c:strRef>
          </c:tx>
          <c:spPr>
            <a:solidFill>
              <a:srgbClr val="1E4F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Online TA</c:v>
                </c:pt>
                <c:pt idx="1">
                  <c:v>Offline TA</c:v>
                </c:pt>
                <c:pt idx="2">
                  <c:v>Direct</c:v>
                </c:pt>
                <c:pt idx="3">
                  <c:v>Corporate</c:v>
                </c:pt>
                <c:pt idx="4">
                  <c:v>Groups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  <c:pt idx="4">
                  <c:v>9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60-45DA-A652-2769CE8371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F3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F3C"/>
                </a:solidFill>
                <a:latin typeface="Arial"/>
              </a:rPr>
              <a:t>Average Daily Rate by Customer Type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Daily Rate ($)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Contract</c:v>
                </c:pt>
                <c:pt idx="1">
                  <c:v>Group</c:v>
                </c:pt>
                <c:pt idx="2">
                  <c:v>Transient</c:v>
                </c:pt>
                <c:pt idx="3">
                  <c:v>Transient-Party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</c:v>
                </c:pt>
                <c:pt idx="1">
                  <c:v>92</c:v>
                </c:pt>
                <c:pt idx="2">
                  <c:v>121</c:v>
                </c:pt>
                <c:pt idx="3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25-43FB-A313-D62B0AFE04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67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108337"/>
            <a:ext cx="5029200" cy="5029200"/>
          </a:xfrm>
          <a:prstGeom prst="ellipse">
            <a:avLst/>
          </a:prstGeom>
          <a:solidFill>
            <a:srgbClr val="1A3A6E">
              <a:alpha val="50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873252"/>
            <a:ext cx="3657600" cy="3657600"/>
          </a:xfrm>
          <a:prstGeom prst="ellipse">
            <a:avLst/>
          </a:prstGeom>
          <a:solidFill>
            <a:srgbClr val="1E4F8C">
              <a:alpha val="4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HOTELS INTERNATIONAL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Harmony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for Optimized Operations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32004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88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analysis of booking patterns,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&amp; guest satisfaction across properties.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Saransh Goyal  |  Data Source: Kaggle Hotel Booking Demand Dataset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objectives &amp;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4864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9631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trends, cancellations, guest behavior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54864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307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4300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occupancy &amp; ADR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88720"/>
            <a:ext cx="54864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2618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321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Identified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across operations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23160"/>
            <a:ext cx="54864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49631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53212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roadmap to improve performance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5760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57600"/>
            <a:ext cx="54864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307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3212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Hotels International operates multiple properties across diverse regions, facing critical challenges in: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13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booking patterns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high cancellation rates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64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customer satisfaction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398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revenue performance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09728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097280"/>
            <a:ext cx="402336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627632"/>
            <a:ext cx="36576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600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peak booking periods &amp; seasonal patterns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157984"/>
            <a:ext cx="36576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130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guest behavior: new vs. repeat customers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688336"/>
            <a:ext cx="36576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660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impact of lead time on cancellations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3218688"/>
            <a:ext cx="36576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1912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room allocation &amp; service quality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3749040"/>
            <a:ext cx="36576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721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revenue insights by segment &amp; channel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9659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bookings cancelled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09728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09728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417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32888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Dependency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fulfilled via agents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109728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097280"/>
            <a:ext cx="1965960" cy="64008"/>
          </a:xfrm>
          <a:prstGeom prst="rect">
            <a:avLst/>
          </a:prstGeom>
          <a:solidFill>
            <a:srgbClr val="1E4F8C"/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417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4F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700016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Contribution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&amp; offline travel agencies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75704" y="109728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097280"/>
            <a:ext cx="196596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14173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67144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Price-First Guests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67144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basic meal packages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1927549900"/>
              </p:ext>
            </p:extLst>
          </p:nvPr>
        </p:nvGraphicFramePr>
        <p:xfrm>
          <a:off x="274320" y="3717235"/>
          <a:ext cx="8595360" cy="122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&amp; CANCELLATION INSIGHTS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3931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051560"/>
            <a:ext cx="4251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0" y="1051560"/>
            <a:ext cx="54864" cy="868680"/>
          </a:xfrm>
          <a:prstGeom prst="rect">
            <a:avLst/>
          </a:prstGeom>
          <a:solidFill>
            <a:srgbClr val="1E4F8C"/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90872" y="1106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Impact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90872" y="1399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made far in advance are more likely to be cancelled. High lead time correlates strongly with cancellation rates.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0" y="2039112"/>
            <a:ext cx="4251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39112"/>
            <a:ext cx="54864" cy="868680"/>
          </a:xfrm>
          <a:prstGeom prst="rect">
            <a:avLst/>
          </a:prstGeom>
          <a:solidFill>
            <a:srgbClr val="1E4F8C"/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90872" y="20939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vs Resort Hotels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90872" y="23865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hotels show higher cancellation rates than resort hotels, likely driven by urban transient travelers.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3026664"/>
            <a:ext cx="4251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3026664"/>
            <a:ext cx="54864" cy="868680"/>
          </a:xfrm>
          <a:prstGeom prst="rect">
            <a:avLst/>
          </a:prstGeom>
          <a:solidFill>
            <a:srgbClr val="1E4F8C"/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90872" y="3081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Type Effect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90872" y="3374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Non-refundable deposits significantly reduce cancellation probability compared to no-deposit bookings.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0" y="4014216"/>
            <a:ext cx="4251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4014216"/>
            <a:ext cx="54864" cy="868680"/>
          </a:xfrm>
          <a:prstGeom prst="rect">
            <a:avLst/>
          </a:prstGeom>
          <a:solidFill>
            <a:srgbClr val="1E4F8C"/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90872" y="4069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vs New Guests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90872" y="4361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guests exhibit 3–4× lower cancellation rates and higher satisfaction scores than first-time guests.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BEHAVIOR &amp; REVENUE ANALYSIS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42062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051560"/>
          <a:ext cx="42062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886200"/>
            <a:ext cx="8595360" cy="96012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02920" y="40690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4005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guests opted for basic BB meal packages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383280" y="40690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66160" y="4005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revenue from OTA channels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63640" y="40690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46520" y="4005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ADR guests generate lower satisfaction complaints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IDENTIFIED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operational pain points uncovered through data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14800" cy="1005840"/>
          </a:xfrm>
          <a:prstGeom prst="rect">
            <a:avLst/>
          </a:prstGeom>
          <a:solidFill>
            <a:srgbClr val="1A3A6E"/>
          </a:solidFill>
          <a:ln w="6350">
            <a:solidFill>
              <a:srgbClr val="1E4F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54864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99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54680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78408" y="13990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Cancellation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17556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bookings cancelled before arrival, causing revenue leakage and resource wastage.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4114800" cy="1005840"/>
          </a:xfrm>
          <a:prstGeom prst="rect">
            <a:avLst/>
          </a:prstGeom>
          <a:solidFill>
            <a:srgbClr val="1A3A6E"/>
          </a:solidFill>
          <a:ln w="6350">
            <a:solidFill>
              <a:srgbClr val="1E4F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32888"/>
            <a:ext cx="54864" cy="1005840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54680" y="26243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Over-Dependency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96265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bookings through agents reduces direct customer relationships and margin.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739896"/>
            <a:ext cx="4114800" cy="1005840"/>
          </a:xfrm>
          <a:prstGeom prst="rect">
            <a:avLst/>
          </a:prstGeom>
          <a:solidFill>
            <a:srgbClr val="1A3A6E"/>
          </a:solidFill>
          <a:ln w="6350">
            <a:solidFill>
              <a:srgbClr val="1E4F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9896"/>
            <a:ext cx="54864" cy="1005840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13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54680" y="38313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8408" y="3813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Allocation Failures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416966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frequently assigned rooms different from reserved type, leading to dissatisfaction.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325880"/>
            <a:ext cx="4114800" cy="1005840"/>
          </a:xfrm>
          <a:prstGeom prst="rect">
            <a:avLst/>
          </a:prstGeom>
          <a:solidFill>
            <a:srgbClr val="1A3A6E"/>
          </a:solidFill>
          <a:ln w="6350">
            <a:solidFill>
              <a:srgbClr val="1E4F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325880"/>
            <a:ext cx="54864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399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89520" y="1417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13248" y="13990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Spikes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17556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April–May peak causes over-occupancy without dynamic pricing mechanisms in place.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532888"/>
            <a:ext cx="4114800" cy="1005840"/>
          </a:xfrm>
          <a:prstGeom prst="rect">
            <a:avLst/>
          </a:prstGeom>
          <a:solidFill>
            <a:srgbClr val="1A3A6E"/>
          </a:solidFill>
          <a:ln w="6350">
            <a:solidFill>
              <a:srgbClr val="1E4F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532888"/>
            <a:ext cx="54864" cy="1005840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589520" y="26243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13248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Dissatisfaction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13248" y="296265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repeat guest rate and high special request volumes signal unmet expectations.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739896"/>
            <a:ext cx="4114800" cy="1005840"/>
          </a:xfrm>
          <a:prstGeom prst="rect">
            <a:avLst/>
          </a:prstGeom>
          <a:solidFill>
            <a:srgbClr val="1A3A6E"/>
          </a:solidFill>
          <a:ln w="6350">
            <a:solidFill>
              <a:srgbClr val="1E4F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739896"/>
            <a:ext cx="54864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813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589520" y="38313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413248" y="3813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Lag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13248" y="416966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on waiting lists face delays, increasing likelihood of abandonment.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69494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329184" cy="329184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161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early-bird offers and surge pricing in April–May to capture premium revenue and manage over-occupancy.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0" y="1280160"/>
            <a:ext cx="1280160" cy="292608"/>
          </a:xfrm>
          <a:prstGeom prst="rect">
            <a:avLst/>
          </a:prstGeom>
          <a:solidFill>
            <a:srgbClr val="1DB954">
              <a:alpha val="15000"/>
            </a:srgbClr>
          </a:solidFill>
          <a:ln w="6350">
            <a:solidFill>
              <a:srgbClr val="1DB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2801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883664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83664"/>
            <a:ext cx="54864" cy="694944"/>
          </a:xfrm>
          <a:prstGeom prst="rect">
            <a:avLst/>
          </a:prstGeom>
          <a:solidFill>
            <a:srgbClr val="1E4F8C"/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66544"/>
            <a:ext cx="329184" cy="329184"/>
          </a:xfrm>
          <a:prstGeom prst="ellipse">
            <a:avLst/>
          </a:prstGeom>
          <a:solidFill>
            <a:srgbClr val="1E4F8C"/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Agent Dependency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23113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direct booking platforms with loyalty incentives. Target 20% direct bookings within 12 months.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0" y="2066544"/>
            <a:ext cx="1280160" cy="292608"/>
          </a:xfrm>
          <a:prstGeom prst="rect">
            <a:avLst/>
          </a:prstGeom>
          <a:solidFill>
            <a:srgbClr val="1E4F8C">
              <a:alpha val="15000"/>
            </a:srgbClr>
          </a:solidFill>
          <a:ln w="6350">
            <a:solidFill>
              <a:srgbClr val="1E4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066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E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70048"/>
            <a:ext cx="54864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52928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OTA Partnerships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0175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and deepen relationships with top OTA partners contributing 62% of bookings through performance deals.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0" y="2852928"/>
            <a:ext cx="1280160" cy="292608"/>
          </a:xfrm>
          <a:prstGeom prst="rect">
            <a:avLst/>
          </a:prstGeom>
          <a:solidFill>
            <a:srgbClr val="C9A84C">
              <a:alpha val="1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8529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456432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56432"/>
            <a:ext cx="54864" cy="694944"/>
          </a:xfrm>
          <a:prstGeom prst="rect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39312"/>
            <a:ext cx="329184" cy="329184"/>
          </a:xfrm>
          <a:prstGeom prst="ellipse">
            <a:avLst/>
          </a:prstGeom>
          <a:solidFill>
            <a:srgbClr val="E07B30"/>
          </a:solidFill>
          <a:ln w="12700">
            <a:solidFill>
              <a:srgbClr val="E07B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Guest Experience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380390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Overhaul room allocation systems, enhance staff training, and implement transparent booking confirmations.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0" y="3639312"/>
            <a:ext cx="1280160" cy="292608"/>
          </a:xfrm>
          <a:prstGeom prst="rect">
            <a:avLst/>
          </a:prstGeom>
          <a:solidFill>
            <a:srgbClr val="E07B30">
              <a:alpha val="15000"/>
            </a:srgbClr>
          </a:solidFill>
          <a:ln w="6350">
            <a:solidFill>
              <a:srgbClr val="E07B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3639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07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242816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242816"/>
            <a:ext cx="54864" cy="6949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425696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4306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Cancellations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45902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flexible policies, pre-arrival engagement campaigns, and targeted offers to convert at-risk bookings.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15200" y="4425696"/>
            <a:ext cx="1280160" cy="292608"/>
          </a:xfrm>
          <a:prstGeom prst="rect">
            <a:avLst/>
          </a:prstGeom>
          <a:solidFill>
            <a:srgbClr val="E63946">
              <a:alpha val="15000"/>
            </a:srgbClr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44256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83480" y="888757"/>
            <a:ext cx="3657600" cy="3657600"/>
          </a:xfrm>
          <a:prstGeom prst="ellipse">
            <a:avLst/>
          </a:prstGeom>
          <a:solidFill>
            <a:srgbClr val="1A3A6E">
              <a:alpha val="60000"/>
            </a:srgbClr>
          </a:solidFill>
          <a:ln w="12700">
            <a:solidFill>
              <a:srgbClr val="1E4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9260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has surfaced critical operational challenges across Elite Hotels International's properties. The path to sustained performance improvement lies in three focus areas: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17569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booking channels to reduce agent lock-in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6413" y="313142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hospitality standards to lower cancellations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4289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mid-season pricing for maximum revenue capture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4114800" cy="850392"/>
          </a:xfrm>
          <a:prstGeom prst="rect">
            <a:avLst/>
          </a:prstGeom>
          <a:solidFill>
            <a:srgbClr val="1A3A6E"/>
          </a:solidFill>
          <a:ln w="6350">
            <a:solidFill>
              <a:srgbClr val="1E4F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4032504"/>
            <a:ext cx="45719" cy="8595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30305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Saransh Goyal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389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goyalsaransh61@gmail.com  |  linkedin.com/in/saranshgoyal007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E4F8C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4937760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639</Words>
  <Application>Microsoft Office PowerPoint</Application>
  <PresentationFormat>On-screen Show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Harmony: Data Insights for Optimized Operations</dc:title>
  <dc:subject>PptxGenJS Presentation</dc:subject>
  <dc:creator>Saransh Goyal</dc:creator>
  <cp:lastModifiedBy>goyalsaransh61@gmail.com</cp:lastModifiedBy>
  <cp:revision>2</cp:revision>
  <dcterms:created xsi:type="dcterms:W3CDTF">2026-03-23T09:39:06Z</dcterms:created>
  <dcterms:modified xsi:type="dcterms:W3CDTF">2026-03-23T09:48:14Z</dcterms:modified>
</cp:coreProperties>
</file>